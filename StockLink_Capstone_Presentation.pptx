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371600" cy="73152"/>
          </a:xfrm>
          <a:prstGeom prst="rect">
            <a:avLst/>
          </a:prstGeom>
          <a:solidFill>
            <a:srgbClr val="FFA062"/>
          </a:solidFill>
          <a:ln w="12700">
            <a:solidFill>
              <a:srgbClr val="FFA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StockLink</a:t>
            </a:r>
          </a:p>
          <a:p>
            <a:pPr>
              <a:spcBef>
                <a:spcPts val="600"/>
              </a:spcBef>
              <a:defRPr sz="1800" b="1">
                <a:solidFill>
                  <a:srgbClr val="FFA062"/>
                </a:solidFill>
                <a:latin typeface="Arial"/>
              </a:defRPr>
            </a:pPr>
            <a:r>
              <a:t>B2B Wholesale Marketplace &amp; Real-Time Price Discovery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5120640" cy="393192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FA062"/>
                </a:solidFill>
                <a:latin typeface="Arial"/>
              </a:defRPr>
            </a:pPr>
            <a:r>
              <a:t>PROJECT TEAM &amp; ROLE ALLOCATION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Praween Singh Rawat  (Frontend Lead)</a:t>
            </a:r>
          </a:p>
          <a:p>
            <a:pPr>
              <a:spcAft>
                <a:spcPts val="600"/>
              </a:spcAft>
              <a:defRPr sz="1050">
                <a:solidFill>
                  <a:srgbClr val="B9AFC6"/>
                </a:solidFill>
                <a:latin typeface="Arial"/>
              </a:defRPr>
            </a:pPr>
            <a:r>
              <a:t>    UI/UX, Dashboards &amp; Profile Modules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Anvitha S  (Frontend Developer)</a:t>
            </a:r>
          </a:p>
          <a:p>
            <a:pPr>
              <a:spcAft>
                <a:spcPts val="600"/>
              </a:spcAft>
              <a:defRPr sz="1050">
                <a:solidFill>
                  <a:srgbClr val="B9AFC6"/>
                </a:solidFill>
                <a:latin typeface="Arial"/>
              </a:defRPr>
            </a:pPr>
            <a:r>
              <a:t>    Auth, Onboarding Wizards &amp; State Logic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Tanishq Mittal  (Backend Lead)</a:t>
            </a:r>
          </a:p>
          <a:p>
            <a:pPr>
              <a:spcAft>
                <a:spcPts val="600"/>
              </a:spcAft>
              <a:defRPr sz="1050">
                <a:solidFill>
                  <a:srgbClr val="B9AFC6"/>
                </a:solidFill>
                <a:latin typeface="Arial"/>
              </a:defRPr>
            </a:pPr>
            <a:r>
              <a:t>    REST APIs, RBAC Middleware &amp; Data Models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•  Ashraj Singh Rana  (Backend &amp; DevOps)</a:t>
            </a:r>
          </a:p>
          <a:p>
            <a:pPr>
              <a:spcAft>
                <a:spcPts val="600"/>
              </a:spcAft>
              <a:defRPr sz="1050">
                <a:solidFill>
                  <a:srgbClr val="B9AFC6"/>
                </a:solidFill>
                <a:latin typeface="Arial"/>
              </a:defRPr>
            </a:pPr>
            <a:r>
              <a:t>    Live Aggregation Engines &amp; Cloud Deployments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468880"/>
            <a:ext cx="5212080" cy="393192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265176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FA062"/>
                </a:solidFill>
                <a:latin typeface="Arial"/>
              </a:defRPr>
            </a:pPr>
            <a:r>
              <a:t>10-MINUTE PRESENTATION AGENDA</a:t>
            </a:r>
          </a:p>
          <a:p>
            <a:pPr>
              <a:defRPr sz="1250" b="1">
                <a:solidFill>
                  <a:srgbClr val="E1DAEB"/>
                </a:solidFill>
                <a:latin typeface="Arial"/>
              </a:defRPr>
            </a:pPr>
            <a:r>
              <a:t>[01]  Project Title, Domain &amp; Problem Statement</a:t>
            </a:r>
          </a:p>
          <a:p>
            <a:pPr>
              <a:spcAft>
                <a:spcPts val="600"/>
              </a:spcAft>
              <a:defRPr sz="1000">
                <a:solidFill>
                  <a:srgbClr val="B9AFC6"/>
                </a:solidFill>
                <a:latin typeface="Arial"/>
              </a:defRPr>
            </a:pPr>
            <a:r>
              <a:t>       2 Mins · Praween</a:t>
            </a:r>
          </a:p>
          <a:p>
            <a:pPr>
              <a:defRPr sz="1250" b="1">
                <a:solidFill>
                  <a:srgbClr val="E1DAEB"/>
                </a:solidFill>
                <a:latin typeface="Arial"/>
              </a:defRPr>
            </a:pPr>
            <a:r>
              <a:t>[02]  Technologies Used &amp; Team Member Roles</a:t>
            </a:r>
          </a:p>
          <a:p>
            <a:pPr>
              <a:spcAft>
                <a:spcPts val="600"/>
              </a:spcAft>
              <a:defRPr sz="1000">
                <a:solidFill>
                  <a:srgbClr val="B9AFC6"/>
                </a:solidFill>
                <a:latin typeface="Arial"/>
              </a:defRPr>
            </a:pPr>
            <a:r>
              <a:t>       2 Mins · Anvitha &amp; Tanishq</a:t>
            </a:r>
          </a:p>
          <a:p>
            <a:pPr>
              <a:defRPr sz="1250" b="1">
                <a:solidFill>
                  <a:srgbClr val="E1DAEB"/>
                </a:solidFill>
                <a:latin typeface="Arial"/>
              </a:defRPr>
            </a:pPr>
            <a:r>
              <a:t>[03]  System Architecture &amp; Live Workflows</a:t>
            </a:r>
          </a:p>
          <a:p>
            <a:pPr>
              <a:spcAft>
                <a:spcPts val="600"/>
              </a:spcAft>
              <a:defRPr sz="1000">
                <a:solidFill>
                  <a:srgbClr val="B9AFC6"/>
                </a:solidFill>
                <a:latin typeface="Arial"/>
              </a:defRPr>
            </a:pPr>
            <a:r>
              <a:t>       2 Mins · Praween &amp; Ashraj</a:t>
            </a:r>
          </a:p>
          <a:p>
            <a:pPr>
              <a:defRPr sz="1250" b="1">
                <a:solidFill>
                  <a:srgbClr val="E1DAEB"/>
                </a:solidFill>
                <a:latin typeface="Arial"/>
              </a:defRPr>
            </a:pPr>
            <a:r>
              <a:t>[04]  Advantages, Disadvantages &amp; Roadmap</a:t>
            </a:r>
          </a:p>
          <a:p>
            <a:pPr>
              <a:spcAft>
                <a:spcPts val="600"/>
              </a:spcAft>
              <a:defRPr sz="1000">
                <a:solidFill>
                  <a:srgbClr val="B9AFC6"/>
                </a:solidFill>
                <a:latin typeface="Arial"/>
              </a:defRPr>
            </a:pPr>
            <a:r>
              <a:t>       2 Mins · Tanishq &amp; Anvitha</a:t>
            </a:r>
          </a:p>
          <a:p>
            <a:pPr>
              <a:defRPr sz="1250" b="1">
                <a:solidFill>
                  <a:srgbClr val="E1DAEB"/>
                </a:solidFill>
                <a:latin typeface="Arial"/>
              </a:defRPr>
            </a:pPr>
            <a:r>
              <a:t>[05]  Live Cloud Hosting &amp; Key Learning Takeaways</a:t>
            </a:r>
          </a:p>
          <a:p>
            <a:pPr>
              <a:spcAft>
                <a:spcPts val="600"/>
              </a:spcAft>
              <a:defRPr sz="1000">
                <a:solidFill>
                  <a:srgbClr val="B9AFC6"/>
                </a:solidFill>
                <a:latin typeface="Arial"/>
              </a:defRPr>
            </a:pPr>
            <a:r>
              <a:t>       2 Mins · Ashraj &amp; Praween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A062"/>
                </a:solidFill>
                <a:latin typeface="Arial"/>
              </a:defRPr>
            </a:pPr>
            <a:r>
              <a:t>STOCKLINK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Technologies Used &amp; Member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566160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200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A062"/>
                </a:solidFill>
                <a:latin typeface="Arial"/>
              </a:defRPr>
            </a:pPr>
            <a:r>
              <a:t>TECHNOLOGY STACK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• Frontend Stack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React 18 · Vite · React Router v7 · Tailwind Design Tokens · Lucide Icons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• Backend Services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Node.js · Express.js REST Framework · Centralized Middleware Pipeline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• Data Persistence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MongoDB · Mongoose ORM · Resilient In-Memory Dual Fallback Engine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• Security &amp; Auth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Stateless JWT Bearer Tokens · Bcryptjs · Zod Schema Validation · RBAC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• Cloud Deployment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Vercel (Edge CDN Frontend) · Render (Cloud Web Service) · Git Monorepo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17320"/>
            <a:ext cx="3566160" cy="237744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581912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Praween Singh Rawat</a:t>
            </a:r>
          </a:p>
          <a:p>
            <a:pPr>
              <a:spcAft>
                <a:spcPts val="600"/>
              </a:spcAft>
              <a:defRPr sz="900" b="1">
                <a:solidFill>
                  <a:srgbClr val="FFA062"/>
                </a:solidFill>
                <a:latin typeface="Arial"/>
              </a:defRPr>
            </a:pPr>
            <a:r>
              <a:t>FRONTEND LEAD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UI/UX Design system tailored for Mandi Commerce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Interactive Retailer &amp; Wholesaler KPI Dashboards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Multi-section Store and Wholesaler Profile engines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Vite client optimization &amp; responsive layout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417320"/>
            <a:ext cx="3566160" cy="237744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581912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Anvitha S</a:t>
            </a:r>
          </a:p>
          <a:p>
            <a:pPr>
              <a:spcAft>
                <a:spcPts val="600"/>
              </a:spcAft>
              <a:defRPr sz="900" b="1">
                <a:solidFill>
                  <a:srgbClr val="FFA062"/>
                </a:solidFill>
                <a:latin typeface="Arial"/>
              </a:defRPr>
            </a:pPr>
            <a:r>
              <a:t>FRONTEND DEVELOPER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Multi-mode authentication (Login, Register &amp; Role Switch)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3-stage onboarding wizard (GSTIN, Address, Preferences)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Centralized API service (`api.js`) &amp; token integration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Source cart state, dynamic routing, and input validation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3977639"/>
            <a:ext cx="3566160" cy="237744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4142231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Tanishq Mittal</a:t>
            </a:r>
          </a:p>
          <a:p>
            <a:pPr>
              <a:spcAft>
                <a:spcPts val="600"/>
              </a:spcAft>
              <a:defRPr sz="900" b="1">
                <a:solidFill>
                  <a:srgbClr val="3B82F6"/>
                </a:solidFill>
                <a:latin typeface="Arial"/>
              </a:defRPr>
            </a:pPr>
            <a:r>
              <a:t>BACKEND LEAD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Express RESTful API routing architecture and endpoints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Role-Based Access Control (RBAC) &amp; authMiddleware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Database Schemas for User, Product, and Order models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Profile mutation endpoints with mass-assignment defense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977639"/>
            <a:ext cx="3566160" cy="237744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4142231"/>
            <a:ext cx="3200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Ashraj Singh Rana</a:t>
            </a:r>
          </a:p>
          <a:p>
            <a:pPr>
              <a:spcAft>
                <a:spcPts val="600"/>
              </a:spcAft>
              <a:defRPr sz="900" b="1">
                <a:solidFill>
                  <a:srgbClr val="22C55E"/>
                </a:solidFill>
                <a:latin typeface="Arial"/>
              </a:defRPr>
            </a:pPr>
            <a:r>
              <a:t>BACKEND &amp; DEVOPS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Dynamic dashboard aggregations (Revenue, Spend, Orders)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Live APMC Mandi discount % benchmark computation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Inline SKU base-price &amp; stock live update controller</a:t>
            </a:r>
          </a:p>
          <a:p>
            <a:pPr>
              <a:spcAft>
                <a:spcPts val="2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▹ Cloud deployment setup on Render &amp; automated test suite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A062"/>
                </a:solidFill>
                <a:latin typeface="Arial"/>
              </a:defRPr>
            </a:pPr>
            <a:r>
              <a:t>STOCKLINK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System Architecture &amp; Core Platform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28416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96265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A062"/>
                </a:solidFill>
                <a:latin typeface="Arial"/>
              </a:defRPr>
            </a:pPr>
            <a:r>
              <a:t>RETAILER WORKFLOW (BUYER)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Hyper-Local Discovery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Search bulk commodities by distance (&lt;5km, 10km, 15km+) and verified mandi mills.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Price Discovery Spotlight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Real-time savings benchmarked directly against official APMC Mandi rates (-12.8% savings).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Source Cart &amp; Tracking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Bulk purchase with minimum order quantities and track status (Pending, Dispatched, Delivered).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Store Profile Manager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Control delivery radius, accepted payment modes (COD, NEFT, Card), and store licenses.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17320"/>
            <a:ext cx="3328416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296265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82F6"/>
                </a:solidFill>
                <a:latin typeface="Arial"/>
              </a:defRPr>
            </a:pPr>
            <a:r>
              <a:t>SECURITY &amp; BACKEND ENGINE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⚡ Stateless JWT Auth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Secure bearer token generation with 7-day expiration and tamper-proof user claims.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⚡ Dual-Mode Persistence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Seamless fallback between live MongoDB Atlas and resilient in-memory stores (100% uptime).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⚡ Strict Role Barrier (RBAC)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Prevents retailers from listing stock and wholesalers from placing orders.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⚡ Live Aggregation Engine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Calculates live metrics from actual database order records rather than static hardcoding.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328416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296265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2C55E"/>
                </a:solidFill>
                <a:latin typeface="Arial"/>
              </a:defRPr>
            </a:pPr>
            <a:r>
              <a:t>WHOLESALER WORKFLOW (SELLER)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Live Revenue &amp; KPI Cards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Calculates month revenue from eligible orders (₹12.4L) and active connected retailers.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Inline Price Mutation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Directly edit SKU base prices on inventory cards with immediate backend persistence.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Stock Depletion Alerts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Automatic triggers identifying low-stock inventory (threshold &lt;= 10 units).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✔ Order Fulfilment Queue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Prioritized fulfillment table displaying buyer identity, quantity, and settlement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A062"/>
                </a:solidFill>
                <a:latin typeface="Arial"/>
              </a:defRPr>
            </a:pPr>
            <a:r>
              <a:t>STOCKLINK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Project Analysis: Advantages, Limitations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28416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96265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2C55E"/>
                </a:solidFill>
                <a:latin typeface="Arial"/>
              </a:defRPr>
            </a:pPr>
            <a:r>
              <a:t>KEY ADVANTAGES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★ Direct Disintermediation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Direct mill-to-retailer linkage eliminates 12-18% middleman commission markups.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★ Zero Ghost Inventory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Real-time stock reservation prevents cancelled orders and supply disruption.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★ Transparent Price Discovery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Empowers local shopkeepers with live APMC mandi benchmark pricing.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★ Resilient Zero-Downtime Engine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Dual-persistence store guarantees continuous platform uptime during server outages.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17320"/>
            <a:ext cx="3328416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296265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A062"/>
                </a:solidFill>
                <a:latin typeface="Arial"/>
              </a:defRPr>
            </a:pPr>
            <a:r>
              <a:t>CURRENT LIMITATIONS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Active Internet Dependency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Live inventory counts and rate updates require continuous internet connectivity.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Local Geofence Boundaries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Logistics radius is currently tailored for localized mandi hubs (&lt;15-20km).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Single Currency Ecosystem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Transactions are optimized exclusively for Indian Rupees (INR) and domestic GSTIN formats.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Manual Payment Verification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High-value bank transfers currently require manual invoice receipt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328416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2962656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82F6"/>
                </a:solidFill>
                <a:latin typeface="Arial"/>
              </a:defRPr>
            </a:pPr>
            <a:r>
              <a:t>FUTURE ENHANCEMENTS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🚀 AI Predictive Procurement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Machine learning forecasting of mandi price trends and automated Kirana stock replenishment.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🚀 Automated e-Way Bill Integration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Instant GST e-Way bill and tax invoice generation upon order dispatch.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🚀 Integrated Escrow Gateway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Milestone-based digital payment holding until delivery confirmation by retailer.</a:t>
            </a:r>
          </a:p>
          <a:p>
            <a:pPr>
              <a:defRPr sz="1150" b="1">
                <a:solidFill>
                  <a:srgbClr val="FFFFFF"/>
                </a:solidFill>
                <a:latin typeface="Arial"/>
              </a:defRPr>
            </a:pPr>
            <a:r>
              <a:t>🚀 Vernacular Voice Search</a:t>
            </a:r>
          </a:p>
          <a:p>
            <a:pPr>
              <a:spcAft>
                <a:spcPts val="700"/>
              </a:spcAft>
              <a:defRPr sz="950">
                <a:solidFill>
                  <a:srgbClr val="B9AFC6"/>
                </a:solidFill>
                <a:latin typeface="Arial"/>
              </a:defRPr>
            </a:pPr>
            <a:r>
              <a:t>Multilingual voice search (Hindi, Kannada, Telugu, Marathi) for mandi traders.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A062"/>
                </a:solidFill>
                <a:latin typeface="Arial"/>
              </a:defRPr>
            </a:pPr>
            <a:r>
              <a:t>STOCKLINK 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Project Hosting Links &amp; Key Learning Experiences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120640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2C55E"/>
                </a:solidFill>
                <a:latin typeface="Arial"/>
              </a:defRPr>
            </a:pPr>
            <a:r>
              <a:t>LIVE CLOUD DEPLOYMENT &amp; REPO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🔗 Live Web Application (Frontend)</a:t>
            </a:r>
          </a:p>
          <a:p>
            <a:pPr>
              <a:defRPr sz="1000" b="1">
                <a:solidFill>
                  <a:srgbClr val="FFA062"/>
                </a:solidFill>
                <a:latin typeface="Arial"/>
              </a:defRPr>
            </a:pPr>
            <a:r>
              <a:t>https://fft-capstone-project.vercel.app</a:t>
            </a:r>
          </a:p>
          <a:p>
            <a:pPr>
              <a:spcAft>
                <a:spcPts val="700"/>
              </a:spcAft>
              <a:defRPr sz="900">
                <a:solidFill>
                  <a:srgbClr val="B9AFC6"/>
                </a:solidFill>
                <a:latin typeface="Arial"/>
              </a:defRPr>
            </a:pPr>
            <a:r>
              <a:t>Deployed globally on Vercel Edge Network with client SPA rewrite protections.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🔗 Backend REST API Service</a:t>
            </a:r>
          </a:p>
          <a:p>
            <a:pPr>
              <a:defRPr sz="1000" b="1">
                <a:solidFill>
                  <a:srgbClr val="FFA062"/>
                </a:solidFill>
                <a:latin typeface="Arial"/>
              </a:defRPr>
            </a:pPr>
            <a:r>
              <a:t>https://fft-capstone-project.onrender.com/api/health</a:t>
            </a:r>
          </a:p>
          <a:p>
            <a:pPr>
              <a:spcAft>
                <a:spcPts val="700"/>
              </a:spcAft>
              <a:defRPr sz="900">
                <a:solidFill>
                  <a:srgbClr val="B9AFC6"/>
                </a:solidFill>
                <a:latin typeface="Arial"/>
              </a:defRPr>
            </a:pPr>
            <a:r>
              <a:t>Live Node.js Express server running on Render with active health monitoring.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🔗 GitHub Monorepo Repository</a:t>
            </a:r>
          </a:p>
          <a:p>
            <a:pPr>
              <a:defRPr sz="1000" b="1">
                <a:solidFill>
                  <a:srgbClr val="FFA062"/>
                </a:solidFill>
                <a:latin typeface="Arial"/>
              </a:defRPr>
            </a:pPr>
            <a:r>
              <a:t>https://github.com/PraweenRawat/FFT_CAPSTONE_PROJECT</a:t>
            </a:r>
          </a:p>
          <a:p>
            <a:pPr>
              <a:spcAft>
                <a:spcPts val="700"/>
              </a:spcAft>
              <a:defRPr sz="900">
                <a:solidFill>
                  <a:srgbClr val="B9AFC6"/>
                </a:solidFill>
                <a:latin typeface="Arial"/>
              </a:defRPr>
            </a:pPr>
            <a:r>
              <a:t>Complete source code, git version history, models, routes &amp; test suites.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🔗 Pre-configured Demo Accounts</a:t>
            </a:r>
          </a:p>
          <a:p>
            <a:pPr>
              <a:defRPr sz="1000" b="1">
                <a:solidFill>
                  <a:srgbClr val="FFA062"/>
                </a:solidFill>
                <a:latin typeface="Arial"/>
              </a:defRPr>
            </a:pPr>
            <a:r>
              <a:t>Retailer: retailer@stocklink.in | Wholesaler: wholesaler@stocklink.in</a:t>
            </a:r>
          </a:p>
          <a:p>
            <a:pPr>
              <a:spcAft>
                <a:spcPts val="700"/>
              </a:spcAft>
              <a:defRPr sz="900">
                <a:solidFill>
                  <a:srgbClr val="B9AFC6"/>
                </a:solidFill>
                <a:latin typeface="Arial"/>
              </a:defRPr>
            </a:pPr>
            <a:r>
              <a:t>Enables instant role-based evaluation without manual registration.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4937760"/>
          </a:xfrm>
          <a:prstGeom prst="roundRect">
            <a:avLst/>
          </a:prstGeom>
          <a:solidFill>
            <a:srgbClr val="262030"/>
          </a:solidFill>
          <a:ln w="19050">
            <a:solidFill>
              <a:srgbClr val="41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A062"/>
                </a:solidFill>
                <a:latin typeface="Arial"/>
              </a:defRPr>
            </a:pPr>
            <a:r>
              <a:t>KEY LEARNING EXPERIENCES IN THIS SUBJECT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💡 Full-Stack Systems Architecture</a:t>
            </a:r>
          </a:p>
          <a:p>
            <a:pPr>
              <a:spcAft>
                <a:spcPts val="5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Mastered connecting decoupled React Vite frontends with Express microservices using dynamic environment variables and CORS policies.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💡 Enterprise-Grade Security (RBAC)</a:t>
            </a:r>
          </a:p>
          <a:p>
            <a:pPr>
              <a:spcAft>
                <a:spcPts val="5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Implemented stateless JSON Web Tokens, bcrypt password hashing, and server-side authorization guards preventing identity spoofing.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💡 Data Persistence &amp; Graceful Degradation</a:t>
            </a:r>
          </a:p>
          <a:p>
            <a:pPr>
              <a:spcAft>
                <a:spcPts val="5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Engineered resilient multi-tier data persistence that seamlessly balances live MongoDB Atlas connections with in-memory stores.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💡 Production Cloud DevOps</a:t>
            </a:r>
          </a:p>
          <a:p>
            <a:pPr>
              <a:spcAft>
                <a:spcPts val="5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Acquired hands-on mastery of production CI/CD pipelines, edge rewrites, zero-downtime cloud deployments, and automated testing.</a:t>
            </a:r>
          </a:p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💡 Agile Teamwork &amp; Collaboration</a:t>
            </a:r>
          </a:p>
          <a:p>
            <a:pPr>
              <a:spcAft>
                <a:spcPts val="500"/>
              </a:spcAft>
              <a:defRPr sz="950">
                <a:solidFill>
                  <a:srgbClr val="E1DAEB"/>
                </a:solidFill>
                <a:latin typeface="Arial"/>
              </a:defRPr>
            </a:pPr>
            <a:r>
              <a:t>Coordinated 4-member pair programming, Git monorepo branching, and clear interface contracts across Frontend and Backend teams.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