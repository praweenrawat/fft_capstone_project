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731520"/>
            <a:ext cx="1097280" cy="73152"/>
          </a:xfrm>
          <a:prstGeom prst="rect">
            <a:avLst/>
          </a:prstGeom>
          <a:solidFill>
            <a:srgbClr val="FFA0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StockLink</a:t>
            </a:r>
          </a:p>
          <a:p>
            <a:pPr>
              <a:spcBef>
                <a:spcPts val="800"/>
              </a:spcBef>
              <a:defRPr sz="1800" b="1">
                <a:solidFill>
                  <a:srgbClr val="FFA062"/>
                </a:solidFill>
              </a:defRPr>
            </a:pPr>
            <a:r>
              <a:t>B2B Wholesale Marketplace &amp; Real-Time Price Discovery Platform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468880"/>
            <a:ext cx="5120640" cy="3840480"/>
          </a:xfrm>
          <a:prstGeom prst="roundRect">
            <a:avLst/>
          </a:prstGeom>
          <a:solidFill>
            <a:srgbClr val="262030"/>
          </a:solidFill>
          <a:ln>
            <a:solidFill>
              <a:srgbClr val="41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4572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FFA062"/>
                </a:solidFill>
              </a:defRPr>
            </a:pPr>
            <a:r>
              <a:t>PROJECT TEAM (4 MEMBERS)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t>•  Praween Singh Rawat</a:t>
            </a:r>
          </a:p>
          <a:p>
            <a:pPr>
              <a:spcAft>
                <a:spcPts val="800"/>
              </a:spcAft>
              <a:defRPr sz="1100">
                <a:solidFill>
                  <a:srgbClr val="B9AFC6"/>
                </a:solidFill>
              </a:defRPr>
            </a:pPr>
            <a:r>
              <a:t>    Frontend Lead · UI/UX &amp; Dashboard Architecture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t>•  Anvitha S</a:t>
            </a:r>
          </a:p>
          <a:p>
            <a:pPr>
              <a:spcAft>
                <a:spcPts val="800"/>
              </a:spcAft>
              <a:defRPr sz="1100">
                <a:solidFill>
                  <a:srgbClr val="B9AFC6"/>
                </a:solidFill>
              </a:defRPr>
            </a:pPr>
            <a:r>
              <a:t>    Frontend Developer · Auth, Onboarding &amp; State Logic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t>•  Tanishq Mittal</a:t>
            </a:r>
          </a:p>
          <a:p>
            <a:pPr>
              <a:spcAft>
                <a:spcPts val="800"/>
              </a:spcAft>
              <a:defRPr sz="1100">
                <a:solidFill>
                  <a:srgbClr val="B9AFC6"/>
                </a:solidFill>
              </a:defRPr>
            </a:pPr>
            <a:r>
              <a:t>    Backend Lead · REST APIs, RBAC &amp; Data Models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t>•  Ashraj Singh Rana</a:t>
            </a:r>
          </a:p>
          <a:p>
            <a:pPr>
              <a:spcAft>
                <a:spcPts val="800"/>
              </a:spcAft>
              <a:defRPr sz="1100">
                <a:solidFill>
                  <a:srgbClr val="B9AFC6"/>
                </a:solidFill>
              </a:defRPr>
            </a:pPr>
            <a:r>
              <a:t>    Backend &amp; DevOps · Aggregations &amp; Cloud Deployment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468880"/>
            <a:ext cx="5212080" cy="3840480"/>
          </a:xfrm>
          <a:prstGeom prst="roundRect">
            <a:avLst/>
          </a:prstGeom>
          <a:solidFill>
            <a:srgbClr val="262030"/>
          </a:solidFill>
          <a:ln>
            <a:solidFill>
              <a:srgbClr val="41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2651760"/>
            <a:ext cx="46634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FFA062"/>
                </a:solidFill>
              </a:defRPr>
            </a:pPr>
            <a:r>
              <a:t>10-MINUTE PRESENTATION AGENDA</a:t>
            </a:r>
          </a:p>
          <a:p>
            <a:pPr>
              <a:spcAft>
                <a:spcPts val="1000"/>
              </a:spcAft>
              <a:defRPr sz="1300" b="1">
                <a:solidFill>
                  <a:srgbClr val="D7D0E1"/>
                </a:solidFill>
              </a:defRPr>
            </a:pPr>
            <a:r>
              <a:t>[01]  Project Overview &amp; Problem Statement  (2 Mins)</a:t>
            </a:r>
          </a:p>
          <a:p>
            <a:pPr>
              <a:spcAft>
                <a:spcPts val="1000"/>
              </a:spcAft>
              <a:defRPr sz="1300" b="1">
                <a:solidFill>
                  <a:srgbClr val="D7D0E1"/>
                </a:solidFill>
              </a:defRPr>
            </a:pPr>
            <a:r>
              <a:t>[02]  Technologies Used &amp; Team Member Roles  (2 Mins)</a:t>
            </a:r>
          </a:p>
          <a:p>
            <a:pPr>
              <a:spcAft>
                <a:spcPts val="1000"/>
              </a:spcAft>
              <a:defRPr sz="1300" b="1">
                <a:solidFill>
                  <a:srgbClr val="D7D0E1"/>
                </a:solidFill>
              </a:defRPr>
            </a:pPr>
            <a:r>
              <a:t>[03]  System Workflows, Architecture &amp; Features  (2 Mins)</a:t>
            </a:r>
          </a:p>
          <a:p>
            <a:pPr>
              <a:spcAft>
                <a:spcPts val="1000"/>
              </a:spcAft>
              <a:defRPr sz="1300" b="1">
                <a:solidFill>
                  <a:srgbClr val="D7D0E1"/>
                </a:solidFill>
              </a:defRPr>
            </a:pPr>
            <a:r>
              <a:t>[04]  Advantages, Disadvantages &amp; Future Roadmap  (2 Mins)</a:t>
            </a:r>
          </a:p>
          <a:p>
            <a:pPr>
              <a:spcAft>
                <a:spcPts val="1000"/>
              </a:spcAft>
              <a:defRPr sz="1300" b="1">
                <a:solidFill>
                  <a:srgbClr val="D7D0E1"/>
                </a:solidFill>
              </a:defRPr>
            </a:pPr>
            <a:r>
              <a:t>[05]  Live Project Hosting &amp; Key Learning Takeaways  (2 Mins)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FA062"/>
                </a:solidFill>
              </a:defRPr>
            </a:pPr>
            <a:r>
              <a:t>STOCKLINK CAPSTONE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Technologies Used &amp; Member Responsibilities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657600" cy="4846320"/>
          </a:xfrm>
          <a:prstGeom prst="roundRect">
            <a:avLst/>
          </a:prstGeom>
          <a:solidFill>
            <a:srgbClr val="262030"/>
          </a:solidFill>
          <a:ln>
            <a:solidFill>
              <a:srgbClr val="41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spcAft>
                <a:spcPts val="1000"/>
              </a:spcAft>
              <a:defRPr sz="1400" b="1">
                <a:solidFill>
                  <a:srgbClr val="FFA062"/>
                </a:solidFill>
              </a:defRPr>
            </a:pPr>
            <a:r>
              <a:t>TECHNOLOGY STACK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• Frontend Client</a:t>
            </a:r>
          </a:p>
          <a:p>
            <a:pPr>
              <a:spcAft>
                <a:spcPts val="800"/>
              </a:spcAft>
              <a:defRPr sz="1000">
                <a:solidFill>
                  <a:srgbClr val="B9AFC6"/>
                </a:solidFill>
              </a:defRPr>
            </a:pPr>
            <a:r>
              <a:t>React 18 · Vite · React Router v7 · Tailwind Tokens · Lucide Icons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• Backend Services</a:t>
            </a:r>
          </a:p>
          <a:p>
            <a:pPr>
              <a:spcAft>
                <a:spcPts val="800"/>
              </a:spcAft>
              <a:defRPr sz="1000">
                <a:solidFill>
                  <a:srgbClr val="B9AFC6"/>
                </a:solidFill>
              </a:defRPr>
            </a:pPr>
            <a:r>
              <a:t>Node.js · Express.js · REST Architecture · Centralized Middleware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• Database &amp; Persistence</a:t>
            </a:r>
          </a:p>
          <a:p>
            <a:pPr>
              <a:spcAft>
                <a:spcPts val="800"/>
              </a:spcAft>
              <a:defRPr sz="1000">
                <a:solidFill>
                  <a:srgbClr val="B9AFC6"/>
                </a:solidFill>
              </a:defRPr>
            </a:pPr>
            <a:r>
              <a:t>MongoDB · Mongoose Models · Resilient In-Memory Dual Store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• Security &amp; Validation</a:t>
            </a:r>
          </a:p>
          <a:p>
            <a:pPr>
              <a:spcAft>
                <a:spcPts val="800"/>
              </a:spcAft>
              <a:defRPr sz="1000">
                <a:solidFill>
                  <a:srgbClr val="B9AFC6"/>
                </a:solidFill>
              </a:defRPr>
            </a:pPr>
            <a:r>
              <a:t>JWT Bearer Tokens · Bcryptjs · Zod Schema Validation · RBAC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• Cloud Deployment</a:t>
            </a:r>
          </a:p>
          <a:p>
            <a:pPr>
              <a:spcAft>
                <a:spcPts val="800"/>
              </a:spcAft>
              <a:defRPr sz="1000">
                <a:solidFill>
                  <a:srgbClr val="B9AFC6"/>
                </a:solidFill>
              </a:defRPr>
            </a:pPr>
            <a:r>
              <a:t>Vercel (Edge SPA) · Render (Node Service) · GitHub CI/CD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63440" y="1463040"/>
            <a:ext cx="3566160" cy="2331720"/>
          </a:xfrm>
          <a:prstGeom prst="roundRect">
            <a:avLst/>
          </a:prstGeom>
          <a:solidFill>
            <a:srgbClr val="262030"/>
          </a:solidFill>
          <a:ln>
            <a:solidFill>
              <a:srgbClr val="41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Praween Singh Rawat</a:t>
            </a:r>
          </a:p>
          <a:p>
            <a:pPr>
              <a:spcAft>
                <a:spcPts val="600"/>
              </a:spcAft>
              <a:defRPr sz="900" b="1">
                <a:solidFill>
                  <a:srgbClr val="FFA062"/>
                </a:solidFill>
              </a:defRPr>
            </a:pPr>
            <a:r>
              <a:t>FRONTEND LEAD</a:t>
            </a:r>
          </a:p>
          <a:p>
            <a:pPr>
              <a:spcAft>
                <a:spcPts val="200"/>
              </a:spcAft>
              <a:defRPr sz="950">
                <a:solidFill>
                  <a:srgbClr val="D7D0E1"/>
                </a:solidFill>
              </a:defRPr>
            </a:pPr>
            <a:r>
              <a:t>▹ UI/UX Design tokens matching Indian Mandi branding</a:t>
            </a:r>
          </a:p>
          <a:p>
            <a:pPr>
              <a:spcAft>
                <a:spcPts val="200"/>
              </a:spcAft>
              <a:defRPr sz="950">
                <a:solidFill>
                  <a:srgbClr val="D7D0E1"/>
                </a:solidFill>
              </a:defRPr>
            </a:pPr>
            <a:r>
              <a:t>▹ Retailer &amp; Wholesaler interactive dashboards &amp; metrics</a:t>
            </a:r>
          </a:p>
          <a:p>
            <a:pPr>
              <a:spcAft>
                <a:spcPts val="200"/>
              </a:spcAft>
              <a:defRPr sz="950">
                <a:solidFill>
                  <a:srgbClr val="D7D0E1"/>
                </a:solidFill>
              </a:defRPr>
            </a:pPr>
            <a:r>
              <a:t>▹ Retailer &amp; Wholesaler comprehensive profile managers</a:t>
            </a:r>
          </a:p>
          <a:p>
            <a:pPr>
              <a:spcAft>
                <a:spcPts val="200"/>
              </a:spcAft>
              <a:defRPr sz="950">
                <a:solidFill>
                  <a:srgbClr val="D7D0E1"/>
                </a:solidFill>
              </a:defRPr>
            </a:pPr>
            <a:r>
              <a:t>▹ Vite production build optimizations &amp; responsive layouts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0" y="1463040"/>
            <a:ext cx="3566160" cy="2331720"/>
          </a:xfrm>
          <a:prstGeom prst="roundRect">
            <a:avLst/>
          </a:prstGeom>
          <a:solidFill>
            <a:srgbClr val="262030"/>
          </a:solidFill>
          <a:ln>
            <a:solidFill>
              <a:srgbClr val="41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Anvitha S</a:t>
            </a:r>
          </a:p>
          <a:p>
            <a:pPr>
              <a:spcAft>
                <a:spcPts val="600"/>
              </a:spcAft>
              <a:defRPr sz="900" b="1">
                <a:solidFill>
                  <a:srgbClr val="FFA062"/>
                </a:solidFill>
              </a:defRPr>
            </a:pPr>
            <a:r>
              <a:t>FRONTEND DEVELOPER</a:t>
            </a:r>
          </a:p>
          <a:p>
            <a:pPr>
              <a:spcAft>
                <a:spcPts val="200"/>
              </a:spcAft>
              <a:defRPr sz="950">
                <a:solidFill>
                  <a:srgbClr val="D7D0E1"/>
                </a:solidFill>
              </a:defRPr>
            </a:pPr>
            <a:r>
              <a:t>▹ Multi-mode authentication (Login, Register &amp; Role Switch)</a:t>
            </a:r>
          </a:p>
          <a:p>
            <a:pPr>
              <a:spcAft>
                <a:spcPts val="200"/>
              </a:spcAft>
              <a:defRPr sz="950">
                <a:solidFill>
                  <a:srgbClr val="D7D0E1"/>
                </a:solidFill>
              </a:defRPr>
            </a:pPr>
            <a:r>
              <a:t>▹ 3-stage onboarding wizard (GSTIN, Address, Preferences)</a:t>
            </a:r>
          </a:p>
          <a:p>
            <a:pPr>
              <a:spcAft>
                <a:spcPts val="200"/>
              </a:spcAft>
              <a:defRPr sz="950">
                <a:solidFill>
                  <a:srgbClr val="D7D0E1"/>
                </a:solidFill>
              </a:defRPr>
            </a:pPr>
            <a:r>
              <a:t>▹ Centralized API service (`api.js`) &amp; token attachment</a:t>
            </a:r>
          </a:p>
          <a:p>
            <a:pPr>
              <a:spcAft>
                <a:spcPts val="200"/>
              </a:spcAft>
              <a:defRPr sz="950">
                <a:solidFill>
                  <a:srgbClr val="D7D0E1"/>
                </a:solidFill>
              </a:defRPr>
            </a:pPr>
            <a:r>
              <a:t>▹ Source cart state, dynamic routing, and input validation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3977639"/>
            <a:ext cx="3566160" cy="2331720"/>
          </a:xfrm>
          <a:prstGeom prst="roundRect">
            <a:avLst/>
          </a:prstGeom>
          <a:solidFill>
            <a:srgbClr val="262030"/>
          </a:solidFill>
          <a:ln>
            <a:solidFill>
              <a:srgbClr val="41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Tanishq Mittal</a:t>
            </a:r>
          </a:p>
          <a:p>
            <a:pPr>
              <a:spcAft>
                <a:spcPts val="600"/>
              </a:spcAft>
              <a:defRPr sz="900" b="1">
                <a:solidFill>
                  <a:srgbClr val="3B82F6"/>
                </a:solidFill>
              </a:defRPr>
            </a:pPr>
            <a:r>
              <a:t>BACKEND LEAD</a:t>
            </a:r>
          </a:p>
          <a:p>
            <a:pPr>
              <a:spcAft>
                <a:spcPts val="200"/>
              </a:spcAft>
              <a:defRPr sz="950">
                <a:solidFill>
                  <a:srgbClr val="D7D0E1"/>
                </a:solidFill>
              </a:defRPr>
            </a:pPr>
            <a:r>
              <a:t>▹ Express RESTful API routing architecture and endpoints</a:t>
            </a:r>
          </a:p>
          <a:p>
            <a:pPr>
              <a:spcAft>
                <a:spcPts val="200"/>
              </a:spcAft>
              <a:defRPr sz="950">
                <a:solidFill>
                  <a:srgbClr val="D7D0E1"/>
                </a:solidFill>
              </a:defRPr>
            </a:pPr>
            <a:r>
              <a:t>▹ Role-Based Access Control (RBAC) &amp; authMiddleware</a:t>
            </a:r>
          </a:p>
          <a:p>
            <a:pPr>
              <a:spcAft>
                <a:spcPts val="200"/>
              </a:spcAft>
              <a:defRPr sz="950">
                <a:solidFill>
                  <a:srgbClr val="D7D0E1"/>
                </a:solidFill>
              </a:defRPr>
            </a:pPr>
            <a:r>
              <a:t>▹ Database Schemas for User, Product, and Order models</a:t>
            </a:r>
          </a:p>
          <a:p>
            <a:pPr>
              <a:spcAft>
                <a:spcPts val="200"/>
              </a:spcAft>
              <a:defRPr sz="950">
                <a:solidFill>
                  <a:srgbClr val="D7D0E1"/>
                </a:solidFill>
              </a:defRPr>
            </a:pPr>
            <a:r>
              <a:t>▹ Profile mutation endpoints with mass-assignment defense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0" y="3977639"/>
            <a:ext cx="3566160" cy="2331720"/>
          </a:xfrm>
          <a:prstGeom prst="roundRect">
            <a:avLst/>
          </a:prstGeom>
          <a:solidFill>
            <a:srgbClr val="262030"/>
          </a:solidFill>
          <a:ln>
            <a:solidFill>
              <a:srgbClr val="41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Ashraj Singh Rana</a:t>
            </a:r>
          </a:p>
          <a:p>
            <a:pPr>
              <a:spcAft>
                <a:spcPts val="600"/>
              </a:spcAft>
              <a:defRPr sz="900" b="1">
                <a:solidFill>
                  <a:srgbClr val="22C55E"/>
                </a:solidFill>
              </a:defRPr>
            </a:pPr>
            <a:r>
              <a:t>BACKEND &amp; DEVOPS</a:t>
            </a:r>
          </a:p>
          <a:p>
            <a:pPr>
              <a:spcAft>
                <a:spcPts val="200"/>
              </a:spcAft>
              <a:defRPr sz="950">
                <a:solidFill>
                  <a:srgbClr val="D7D0E1"/>
                </a:solidFill>
              </a:defRPr>
            </a:pPr>
            <a:r>
              <a:t>▹ Dynamic dashboard aggregations (Revenue, Spend, Orders)</a:t>
            </a:r>
          </a:p>
          <a:p>
            <a:pPr>
              <a:spcAft>
                <a:spcPts val="200"/>
              </a:spcAft>
              <a:defRPr sz="950">
                <a:solidFill>
                  <a:srgbClr val="D7D0E1"/>
                </a:solidFill>
              </a:defRPr>
            </a:pPr>
            <a:r>
              <a:t>▹ Live APMC Mandi discount % benchmark computation</a:t>
            </a:r>
          </a:p>
          <a:p>
            <a:pPr>
              <a:spcAft>
                <a:spcPts val="200"/>
              </a:spcAft>
              <a:defRPr sz="950">
                <a:solidFill>
                  <a:srgbClr val="D7D0E1"/>
                </a:solidFill>
              </a:defRPr>
            </a:pPr>
            <a:r>
              <a:t>▹ Inline SKU base-price &amp; stock live update controller</a:t>
            </a:r>
          </a:p>
          <a:p>
            <a:pPr>
              <a:spcAft>
                <a:spcPts val="200"/>
              </a:spcAft>
              <a:defRPr sz="950">
                <a:solidFill>
                  <a:srgbClr val="D7D0E1"/>
                </a:solidFill>
              </a:defRPr>
            </a:pPr>
            <a:r>
              <a:t>▹ Cloud deployment setup on Render &amp; automated test suite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FA062"/>
                </a:solidFill>
              </a:defRPr>
            </a:pPr>
            <a:r>
              <a:t>STOCKLINK CAPSTONE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System Architecture &amp; Core Platform Workflows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28416" cy="4846320"/>
          </a:xfrm>
          <a:prstGeom prst="roundRect">
            <a:avLst/>
          </a:prstGeom>
          <a:solidFill>
            <a:srgbClr val="262030"/>
          </a:solidFill>
          <a:ln>
            <a:solidFill>
              <a:srgbClr val="41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spcAft>
                <a:spcPts val="1200"/>
              </a:spcAft>
              <a:defRPr sz="1300" b="1">
                <a:solidFill>
                  <a:srgbClr val="FFA062"/>
                </a:solidFill>
              </a:defRPr>
            </a:pPr>
            <a:r>
              <a:t>RETAILER WORKFLOW (BUYER)</a:t>
            </a:r>
          </a:p>
          <a:p>
            <a:pPr>
              <a:defRPr sz="1150" b="1">
                <a:solidFill>
                  <a:srgbClr val="FFFFFF"/>
                </a:solidFill>
              </a:defRPr>
            </a:pPr>
            <a:r>
              <a:t>✔ Hyper-Local Discovery</a:t>
            </a:r>
          </a:p>
          <a:p>
            <a:pPr>
              <a:spcAft>
                <a:spcPts val="800"/>
              </a:spcAft>
              <a:defRPr sz="1000">
                <a:solidFill>
                  <a:srgbClr val="B9AFC6"/>
                </a:solidFill>
              </a:defRPr>
            </a:pPr>
            <a:r>
              <a:t>Search bulk commodities by distance (&lt;5km, 10km, 15km+) and verified mandi mills.</a:t>
            </a:r>
          </a:p>
          <a:p>
            <a:pPr>
              <a:defRPr sz="1150" b="1">
                <a:solidFill>
                  <a:srgbClr val="FFFFFF"/>
                </a:solidFill>
              </a:defRPr>
            </a:pPr>
            <a:r>
              <a:t>✔ Price Discovery Spotlight</a:t>
            </a:r>
          </a:p>
          <a:p>
            <a:pPr>
              <a:spcAft>
                <a:spcPts val="800"/>
              </a:spcAft>
              <a:defRPr sz="1000">
                <a:solidFill>
                  <a:srgbClr val="B9AFC6"/>
                </a:solidFill>
              </a:defRPr>
            </a:pPr>
            <a:r>
              <a:t>Real-time savings benchmarked directly against official APMC Mandi rates (-12.8% savings).</a:t>
            </a:r>
          </a:p>
          <a:p>
            <a:pPr>
              <a:defRPr sz="1150" b="1">
                <a:solidFill>
                  <a:srgbClr val="FFFFFF"/>
                </a:solidFill>
              </a:defRPr>
            </a:pPr>
            <a:r>
              <a:t>✔ Source Cart &amp; Tracking</a:t>
            </a:r>
          </a:p>
          <a:p>
            <a:pPr>
              <a:spcAft>
                <a:spcPts val="800"/>
              </a:spcAft>
              <a:defRPr sz="1000">
                <a:solidFill>
                  <a:srgbClr val="B9AFC6"/>
                </a:solidFill>
              </a:defRPr>
            </a:pPr>
            <a:r>
              <a:t>Bulk purchase with minimum order quantities and track status (Pending, Dispatched, Delivered).</a:t>
            </a:r>
          </a:p>
          <a:p>
            <a:pPr>
              <a:defRPr sz="1150" b="1">
                <a:solidFill>
                  <a:srgbClr val="FFFFFF"/>
                </a:solidFill>
              </a:defRPr>
            </a:pPr>
            <a:r>
              <a:t>✔ Store Profile Manager</a:t>
            </a:r>
          </a:p>
          <a:p>
            <a:pPr>
              <a:spcAft>
                <a:spcPts val="800"/>
              </a:spcAft>
              <a:defRPr sz="1000">
                <a:solidFill>
                  <a:srgbClr val="B9AFC6"/>
                </a:solidFill>
              </a:defRPr>
            </a:pPr>
            <a:r>
              <a:t>Control delivery radius, accepted payment modes (COD, NEFT, Card), and store licenses.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63040"/>
            <a:ext cx="3328416" cy="4846320"/>
          </a:xfrm>
          <a:prstGeom prst="roundRect">
            <a:avLst/>
          </a:prstGeom>
          <a:solidFill>
            <a:srgbClr val="262030"/>
          </a:solidFill>
          <a:ln>
            <a:solidFill>
              <a:srgbClr val="41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spcAft>
                <a:spcPts val="1200"/>
              </a:spcAft>
              <a:defRPr sz="1300" b="1">
                <a:solidFill>
                  <a:srgbClr val="3B82F6"/>
                </a:solidFill>
              </a:defRPr>
            </a:pPr>
            <a:r>
              <a:t>SECURITY &amp; BACKEND ENGINE</a:t>
            </a:r>
          </a:p>
          <a:p>
            <a:pPr>
              <a:defRPr sz="1150" b="1">
                <a:solidFill>
                  <a:srgbClr val="FFFFFF"/>
                </a:solidFill>
              </a:defRPr>
            </a:pPr>
            <a:r>
              <a:t>⚡ Stateless JWT Authentication</a:t>
            </a:r>
          </a:p>
          <a:p>
            <a:pPr>
              <a:spcAft>
                <a:spcPts val="800"/>
              </a:spcAft>
              <a:defRPr sz="1000">
                <a:solidFill>
                  <a:srgbClr val="B9AFC6"/>
                </a:solidFill>
              </a:defRPr>
            </a:pPr>
            <a:r>
              <a:t>Secure bearer token generation with 7-day expiration and tamper-proof user claims.</a:t>
            </a:r>
          </a:p>
          <a:p>
            <a:pPr>
              <a:defRPr sz="1150" b="1">
                <a:solidFill>
                  <a:srgbClr val="FFFFFF"/>
                </a:solidFill>
              </a:defRPr>
            </a:pPr>
            <a:r>
              <a:t>⚡ Dual-Mode Persistence</a:t>
            </a:r>
          </a:p>
          <a:p>
            <a:pPr>
              <a:spcAft>
                <a:spcPts val="800"/>
              </a:spcAft>
              <a:defRPr sz="1000">
                <a:solidFill>
                  <a:srgbClr val="B9AFC6"/>
                </a:solidFill>
              </a:defRPr>
            </a:pPr>
            <a:r>
              <a:t>Seamless fallback between live MongoDB Atlas and resilient in-memory stores (100% uptime).</a:t>
            </a:r>
          </a:p>
          <a:p>
            <a:pPr>
              <a:defRPr sz="1150" b="1">
                <a:solidFill>
                  <a:srgbClr val="FFFFFF"/>
                </a:solidFill>
              </a:defRPr>
            </a:pPr>
            <a:r>
              <a:t>⚡ Role-Based Access Control</a:t>
            </a:r>
          </a:p>
          <a:p>
            <a:pPr>
              <a:spcAft>
                <a:spcPts val="800"/>
              </a:spcAft>
              <a:defRPr sz="1000">
                <a:solidFill>
                  <a:srgbClr val="B9AFC6"/>
                </a:solidFill>
              </a:defRPr>
            </a:pPr>
            <a:r>
              <a:t>Strict barrier preventing retailers from listing stock and wholesalers from placing orders.</a:t>
            </a:r>
          </a:p>
          <a:p>
            <a:pPr>
              <a:defRPr sz="1150" b="1">
                <a:solidFill>
                  <a:srgbClr val="FFFFFF"/>
                </a:solidFill>
              </a:defRPr>
            </a:pPr>
            <a:r>
              <a:t>⚡ Live Aggregation Engine</a:t>
            </a:r>
          </a:p>
          <a:p>
            <a:pPr>
              <a:spcAft>
                <a:spcPts val="800"/>
              </a:spcAft>
              <a:defRPr sz="1000">
                <a:solidFill>
                  <a:srgbClr val="B9AFC6"/>
                </a:solidFill>
              </a:defRPr>
            </a:pPr>
            <a:r>
              <a:t>Calculates live metrics from actual database order records rather than static hardcoding.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463040"/>
            <a:ext cx="3328416" cy="4846320"/>
          </a:xfrm>
          <a:prstGeom prst="roundRect">
            <a:avLst/>
          </a:prstGeom>
          <a:solidFill>
            <a:srgbClr val="262030"/>
          </a:solidFill>
          <a:ln>
            <a:solidFill>
              <a:srgbClr val="41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spcAft>
                <a:spcPts val="1200"/>
              </a:spcAft>
              <a:defRPr sz="1300" b="1">
                <a:solidFill>
                  <a:srgbClr val="22C55E"/>
                </a:solidFill>
              </a:defRPr>
            </a:pPr>
            <a:r>
              <a:t>WHOLESALER WORKFLOW (SELLER)</a:t>
            </a:r>
          </a:p>
          <a:p>
            <a:pPr>
              <a:defRPr sz="1150" b="1">
                <a:solidFill>
                  <a:srgbClr val="FFFFFF"/>
                </a:solidFill>
              </a:defRPr>
            </a:pPr>
            <a:r>
              <a:t>✔ Live Revenue &amp; KPI Cards</a:t>
            </a:r>
          </a:p>
          <a:p>
            <a:pPr>
              <a:spcAft>
                <a:spcPts val="800"/>
              </a:spcAft>
              <a:defRPr sz="1000">
                <a:solidFill>
                  <a:srgbClr val="B9AFC6"/>
                </a:solidFill>
              </a:defRPr>
            </a:pPr>
            <a:r>
              <a:t>Calculates month revenue from eligible orders (₹12.4L) and active connected retailers.</a:t>
            </a:r>
          </a:p>
          <a:p>
            <a:pPr>
              <a:defRPr sz="1150" b="1">
                <a:solidFill>
                  <a:srgbClr val="FFFFFF"/>
                </a:solidFill>
              </a:defRPr>
            </a:pPr>
            <a:r>
              <a:t>✔ Inline Price Mutation</a:t>
            </a:r>
          </a:p>
          <a:p>
            <a:pPr>
              <a:spcAft>
                <a:spcPts val="800"/>
              </a:spcAft>
              <a:defRPr sz="1000">
                <a:solidFill>
                  <a:srgbClr val="B9AFC6"/>
                </a:solidFill>
              </a:defRPr>
            </a:pPr>
            <a:r>
              <a:t>Directly edit SKU base prices on inventory cards with immediate backend persistence.</a:t>
            </a:r>
          </a:p>
          <a:p>
            <a:pPr>
              <a:defRPr sz="1150" b="1">
                <a:solidFill>
                  <a:srgbClr val="FFFFFF"/>
                </a:solidFill>
              </a:defRPr>
            </a:pPr>
            <a:r>
              <a:t>✔ Stock Depletion Alerts</a:t>
            </a:r>
          </a:p>
          <a:p>
            <a:pPr>
              <a:spcAft>
                <a:spcPts val="800"/>
              </a:spcAft>
              <a:defRPr sz="1000">
                <a:solidFill>
                  <a:srgbClr val="B9AFC6"/>
                </a:solidFill>
              </a:defRPr>
            </a:pPr>
            <a:r>
              <a:t>Automatic triggers identifying low-stock inventory (threshold &lt;= 10 units).</a:t>
            </a:r>
          </a:p>
          <a:p>
            <a:pPr>
              <a:defRPr sz="1150" b="1">
                <a:solidFill>
                  <a:srgbClr val="FFFFFF"/>
                </a:solidFill>
              </a:defRPr>
            </a:pPr>
            <a:r>
              <a:t>✔ Order Fulfilment Queue</a:t>
            </a:r>
          </a:p>
          <a:p>
            <a:pPr>
              <a:spcAft>
                <a:spcPts val="800"/>
              </a:spcAft>
              <a:defRPr sz="1000">
                <a:solidFill>
                  <a:srgbClr val="B9AFC6"/>
                </a:solidFill>
              </a:defRPr>
            </a:pPr>
            <a:r>
              <a:t>Prioritized fulfillment table displaying buyer identity, quantity, and settlement values.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FA062"/>
                </a:solidFill>
              </a:defRPr>
            </a:pPr>
            <a:r>
              <a:t>STOCKLINK CAPSTONE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Project Analysis: Advantages, Limitations &amp; Roadmap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28416" cy="4846320"/>
          </a:xfrm>
          <a:prstGeom prst="roundRect">
            <a:avLst/>
          </a:prstGeom>
          <a:solidFill>
            <a:srgbClr val="262030"/>
          </a:solidFill>
          <a:ln>
            <a:solidFill>
              <a:srgbClr val="41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spcAft>
                <a:spcPts val="1200"/>
              </a:spcAft>
              <a:defRPr sz="1300" b="1">
                <a:solidFill>
                  <a:srgbClr val="22C55E"/>
                </a:solidFill>
              </a:defRPr>
            </a:pPr>
            <a:r>
              <a:t>KEY ADVANTAGES</a:t>
            </a:r>
          </a:p>
          <a:p>
            <a:pPr>
              <a:defRPr sz="1150" b="1">
                <a:solidFill>
                  <a:srgbClr val="FFFFFF"/>
                </a:solidFill>
              </a:defRPr>
            </a:pPr>
            <a:r>
              <a:t>★ Disintermediation</a:t>
            </a:r>
          </a:p>
          <a:p>
            <a:pPr>
              <a:spcAft>
                <a:spcPts val="800"/>
              </a:spcAft>
              <a:defRPr sz="1000">
                <a:solidFill>
                  <a:srgbClr val="B9AFC6"/>
                </a:solidFill>
              </a:defRPr>
            </a:pPr>
            <a:r>
              <a:t>Direct mill-to-retailer linkage eliminates 12-18% middleman commission markups.</a:t>
            </a:r>
          </a:p>
          <a:p>
            <a:pPr>
              <a:defRPr sz="1150" b="1">
                <a:solidFill>
                  <a:srgbClr val="FFFFFF"/>
                </a:solidFill>
              </a:defRPr>
            </a:pPr>
            <a:r>
              <a:t>★ Zero Ghost Inventory</a:t>
            </a:r>
          </a:p>
          <a:p>
            <a:pPr>
              <a:spcAft>
                <a:spcPts val="800"/>
              </a:spcAft>
              <a:defRPr sz="1000">
                <a:solidFill>
                  <a:srgbClr val="B9AFC6"/>
                </a:solidFill>
              </a:defRPr>
            </a:pPr>
            <a:r>
              <a:t>Real-time stock reservation prevents cancelled orders and supply disruption.</a:t>
            </a:r>
          </a:p>
          <a:p>
            <a:pPr>
              <a:defRPr sz="1150" b="1">
                <a:solidFill>
                  <a:srgbClr val="FFFFFF"/>
                </a:solidFill>
              </a:defRPr>
            </a:pPr>
            <a:r>
              <a:t>★ Transparent Price Discovery</a:t>
            </a:r>
          </a:p>
          <a:p>
            <a:pPr>
              <a:spcAft>
                <a:spcPts val="800"/>
              </a:spcAft>
              <a:defRPr sz="1000">
                <a:solidFill>
                  <a:srgbClr val="B9AFC6"/>
                </a:solidFill>
              </a:defRPr>
            </a:pPr>
            <a:r>
              <a:t>Empowers local shopkeepers with live APMC mandi benchmark pricing.</a:t>
            </a:r>
          </a:p>
          <a:p>
            <a:pPr>
              <a:defRPr sz="1150" b="1">
                <a:solidFill>
                  <a:srgbClr val="FFFFFF"/>
                </a:solidFill>
              </a:defRPr>
            </a:pPr>
            <a:r>
              <a:t>★ Resilient Zero-Downtime Engine</a:t>
            </a:r>
          </a:p>
          <a:p>
            <a:pPr>
              <a:spcAft>
                <a:spcPts val="800"/>
              </a:spcAft>
              <a:defRPr sz="1000">
                <a:solidFill>
                  <a:srgbClr val="B9AFC6"/>
                </a:solidFill>
              </a:defRPr>
            </a:pPr>
            <a:r>
              <a:t>Dual-persistence store guarantees continuous platform uptime during server outages.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63040"/>
            <a:ext cx="3328416" cy="4846320"/>
          </a:xfrm>
          <a:prstGeom prst="roundRect">
            <a:avLst/>
          </a:prstGeom>
          <a:solidFill>
            <a:srgbClr val="262030"/>
          </a:solidFill>
          <a:ln>
            <a:solidFill>
              <a:srgbClr val="41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spcAft>
                <a:spcPts val="1200"/>
              </a:spcAft>
              <a:defRPr sz="1300" b="1">
                <a:solidFill>
                  <a:srgbClr val="FFA062"/>
                </a:solidFill>
              </a:defRPr>
            </a:pPr>
            <a:r>
              <a:t>CURRENT LIMITATIONS</a:t>
            </a:r>
          </a:p>
          <a:p>
            <a:pPr>
              <a:defRPr sz="1150" b="1">
                <a:solidFill>
                  <a:srgbClr val="FFFFFF"/>
                </a:solidFill>
              </a:defRPr>
            </a:pPr>
            <a:r>
              <a:t>▲ Active Internet Dependency</a:t>
            </a:r>
          </a:p>
          <a:p>
            <a:pPr>
              <a:spcAft>
                <a:spcPts val="800"/>
              </a:spcAft>
              <a:defRPr sz="1000">
                <a:solidFill>
                  <a:srgbClr val="B9AFC6"/>
                </a:solidFill>
              </a:defRPr>
            </a:pPr>
            <a:r>
              <a:t>Live inventory counts and rate updates require continuous internet connectivity.</a:t>
            </a:r>
          </a:p>
          <a:p>
            <a:pPr>
              <a:defRPr sz="1150" b="1">
                <a:solidFill>
                  <a:srgbClr val="FFFFFF"/>
                </a:solidFill>
              </a:defRPr>
            </a:pPr>
            <a:r>
              <a:t>▲ Local Geofence Boundaries</a:t>
            </a:r>
          </a:p>
          <a:p>
            <a:pPr>
              <a:spcAft>
                <a:spcPts val="800"/>
              </a:spcAft>
              <a:defRPr sz="1000">
                <a:solidFill>
                  <a:srgbClr val="B9AFC6"/>
                </a:solidFill>
              </a:defRPr>
            </a:pPr>
            <a:r>
              <a:t>Logistics radius is currently tailored for localized mandi hubs (&lt;15-20km).</a:t>
            </a:r>
          </a:p>
          <a:p>
            <a:pPr>
              <a:defRPr sz="1150" b="1">
                <a:solidFill>
                  <a:srgbClr val="FFFFFF"/>
                </a:solidFill>
              </a:defRPr>
            </a:pPr>
            <a:r>
              <a:t>▲ Single Currency Ecosystem</a:t>
            </a:r>
          </a:p>
          <a:p>
            <a:pPr>
              <a:spcAft>
                <a:spcPts val="800"/>
              </a:spcAft>
              <a:defRPr sz="1000">
                <a:solidFill>
                  <a:srgbClr val="B9AFC6"/>
                </a:solidFill>
              </a:defRPr>
            </a:pPr>
            <a:r>
              <a:t>Transactions are optimized exclusively for Indian Rupees (INR) and domestic GSTIN formats.</a:t>
            </a:r>
          </a:p>
          <a:p>
            <a:pPr>
              <a:defRPr sz="1150" b="1">
                <a:solidFill>
                  <a:srgbClr val="FFFFFF"/>
                </a:solidFill>
              </a:defRPr>
            </a:pPr>
            <a:r>
              <a:t>▲ Manual Payment Verification</a:t>
            </a:r>
          </a:p>
          <a:p>
            <a:pPr>
              <a:spcAft>
                <a:spcPts val="800"/>
              </a:spcAft>
              <a:defRPr sz="1000">
                <a:solidFill>
                  <a:srgbClr val="B9AFC6"/>
                </a:solidFill>
              </a:defRPr>
            </a:pPr>
            <a:r>
              <a:t>High-value bank transfers currently require manual invoice receipt reconciliation.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463040"/>
            <a:ext cx="3328416" cy="4846320"/>
          </a:xfrm>
          <a:prstGeom prst="roundRect">
            <a:avLst/>
          </a:prstGeom>
          <a:solidFill>
            <a:srgbClr val="262030"/>
          </a:solidFill>
          <a:ln>
            <a:solidFill>
              <a:srgbClr val="41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spcAft>
                <a:spcPts val="1200"/>
              </a:spcAft>
              <a:defRPr sz="1300" b="1">
                <a:solidFill>
                  <a:srgbClr val="3B82F6"/>
                </a:solidFill>
              </a:defRPr>
            </a:pPr>
            <a:r>
              <a:t>FUTURE ENHANCEMENTS</a:t>
            </a:r>
          </a:p>
          <a:p>
            <a:pPr>
              <a:defRPr sz="1150" b="1">
                <a:solidFill>
                  <a:srgbClr val="FFFFFF"/>
                </a:solidFill>
              </a:defRPr>
            </a:pPr>
            <a:r>
              <a:t>🚀 AI Predictive Procurement</a:t>
            </a:r>
          </a:p>
          <a:p>
            <a:pPr>
              <a:spcAft>
                <a:spcPts val="800"/>
              </a:spcAft>
              <a:defRPr sz="1000">
                <a:solidFill>
                  <a:srgbClr val="B9AFC6"/>
                </a:solidFill>
              </a:defRPr>
            </a:pPr>
            <a:r>
              <a:t>Machine learning forecasting of mandi price trends and automated Kirana stock replenishment.</a:t>
            </a:r>
          </a:p>
          <a:p>
            <a:pPr>
              <a:defRPr sz="1150" b="1">
                <a:solidFill>
                  <a:srgbClr val="FFFFFF"/>
                </a:solidFill>
              </a:defRPr>
            </a:pPr>
            <a:r>
              <a:t>🚀 Automated e-Way Bill Integration</a:t>
            </a:r>
          </a:p>
          <a:p>
            <a:pPr>
              <a:spcAft>
                <a:spcPts val="800"/>
              </a:spcAft>
              <a:defRPr sz="1000">
                <a:solidFill>
                  <a:srgbClr val="B9AFC6"/>
                </a:solidFill>
              </a:defRPr>
            </a:pPr>
            <a:r>
              <a:t>Instant GST e-Way bill and tax invoice generation upon order dispatch.</a:t>
            </a:r>
          </a:p>
          <a:p>
            <a:pPr>
              <a:defRPr sz="1150" b="1">
                <a:solidFill>
                  <a:srgbClr val="FFFFFF"/>
                </a:solidFill>
              </a:defRPr>
            </a:pPr>
            <a:r>
              <a:t>🚀 Integrated Escrow Gateway</a:t>
            </a:r>
          </a:p>
          <a:p>
            <a:pPr>
              <a:spcAft>
                <a:spcPts val="800"/>
              </a:spcAft>
              <a:defRPr sz="1000">
                <a:solidFill>
                  <a:srgbClr val="B9AFC6"/>
                </a:solidFill>
              </a:defRPr>
            </a:pPr>
            <a:r>
              <a:t>Milestone-based digital payment holding until delivery confirmation by retailer.</a:t>
            </a:r>
          </a:p>
          <a:p>
            <a:pPr>
              <a:defRPr sz="1150" b="1">
                <a:solidFill>
                  <a:srgbClr val="FFFFFF"/>
                </a:solidFill>
              </a:defRPr>
            </a:pPr>
            <a:r>
              <a:t>🚀 Vernacular Voice Search</a:t>
            </a:r>
          </a:p>
          <a:p>
            <a:pPr>
              <a:spcAft>
                <a:spcPts val="800"/>
              </a:spcAft>
              <a:defRPr sz="1000">
                <a:solidFill>
                  <a:srgbClr val="B9AFC6"/>
                </a:solidFill>
              </a:defRPr>
            </a:pPr>
            <a:r>
              <a:t>Multilingual voice search (Hindi, Kannada, Telugu, Marathi) for mandi traders.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FA062"/>
                </a:solidFill>
              </a:defRPr>
            </a:pPr>
            <a:r>
              <a:t>STOCKLINK CAPSTONE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Project Hosting Links &amp; Key Learning Experiences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262030"/>
          </a:solidFill>
          <a:ln>
            <a:solidFill>
              <a:srgbClr val="41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spcAft>
                <a:spcPts val="1200"/>
              </a:spcAft>
              <a:defRPr sz="1300" b="1">
                <a:solidFill>
                  <a:srgbClr val="22C55E"/>
                </a:solidFill>
              </a:defRPr>
            </a:pPr>
            <a:r>
              <a:t>LIVE CLOUD DEPLOYMENT &amp; REPO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🔗 Live Web Application (Frontend)</a:t>
            </a:r>
          </a:p>
          <a:p>
            <a:pPr>
              <a:defRPr sz="1000" b="1">
                <a:solidFill>
                  <a:srgbClr val="FFA062"/>
                </a:solidFill>
              </a:defRPr>
            </a:pPr>
            <a:r>
              <a:t>https://fft-capstone-project.vercel.app</a:t>
            </a:r>
          </a:p>
          <a:p>
            <a:pPr>
              <a:spcAft>
                <a:spcPts val="800"/>
              </a:spcAft>
              <a:defRPr sz="900">
                <a:solidFill>
                  <a:srgbClr val="B9AFC6"/>
                </a:solidFill>
              </a:defRPr>
            </a:pPr>
            <a:r>
              <a:t>Deployed globally on Vercel Edge Network with client SPA rewrite protections.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🔗 Backend REST API Service</a:t>
            </a:r>
          </a:p>
          <a:p>
            <a:pPr>
              <a:defRPr sz="1000" b="1">
                <a:solidFill>
                  <a:srgbClr val="FFA062"/>
                </a:solidFill>
              </a:defRPr>
            </a:pPr>
            <a:r>
              <a:t>https://fft-capstone-project.onrender.com/api/health</a:t>
            </a:r>
          </a:p>
          <a:p>
            <a:pPr>
              <a:spcAft>
                <a:spcPts val="800"/>
              </a:spcAft>
              <a:defRPr sz="900">
                <a:solidFill>
                  <a:srgbClr val="B9AFC6"/>
                </a:solidFill>
              </a:defRPr>
            </a:pPr>
            <a:r>
              <a:t>Live Node.js Express server running on Render with active health monitoring.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🔗 GitHub Monorepo Repository</a:t>
            </a:r>
          </a:p>
          <a:p>
            <a:pPr>
              <a:defRPr sz="1000" b="1">
                <a:solidFill>
                  <a:srgbClr val="FFA062"/>
                </a:solidFill>
              </a:defRPr>
            </a:pPr>
            <a:r>
              <a:t>https://github.com/PraweenRawat/FFT_CAPSTONE_PROJECT</a:t>
            </a:r>
          </a:p>
          <a:p>
            <a:pPr>
              <a:spcAft>
                <a:spcPts val="800"/>
              </a:spcAft>
              <a:defRPr sz="900">
                <a:solidFill>
                  <a:srgbClr val="B9AFC6"/>
                </a:solidFill>
              </a:defRPr>
            </a:pPr>
            <a:r>
              <a:t>Complete source code, git version history, models, routes &amp; test suites.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🔗 Pre-configured Demo Accounts</a:t>
            </a:r>
          </a:p>
          <a:p>
            <a:pPr>
              <a:defRPr sz="1000" b="1">
                <a:solidFill>
                  <a:srgbClr val="FFA062"/>
                </a:solidFill>
              </a:defRPr>
            </a:pPr>
            <a:r>
              <a:t>Retailer: retailer@stocklink.in | Wholesaler: wholesaler@stocklink.in</a:t>
            </a:r>
          </a:p>
          <a:p>
            <a:pPr>
              <a:spcAft>
                <a:spcPts val="800"/>
              </a:spcAft>
              <a:defRPr sz="900">
                <a:solidFill>
                  <a:srgbClr val="B9AFC6"/>
                </a:solidFill>
              </a:defRPr>
            </a:pPr>
            <a:r>
              <a:t>Enables instant role-based evaluation without manual registration.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262030"/>
          </a:solidFill>
          <a:ln>
            <a:solidFill>
              <a:srgbClr val="41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spcAft>
                <a:spcPts val="1200"/>
              </a:spcAft>
              <a:defRPr sz="1300" b="1">
                <a:solidFill>
                  <a:srgbClr val="FFA062"/>
                </a:solidFill>
              </a:defRPr>
            </a:pPr>
            <a:r>
              <a:t>KEY LEARNING EXPERIENCES IN THIS SUBJECT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💡 Full-Stack Systems Architecture</a:t>
            </a:r>
          </a:p>
          <a:p>
            <a:pPr>
              <a:spcAft>
                <a:spcPts val="600"/>
              </a:spcAft>
              <a:defRPr sz="950">
                <a:solidFill>
                  <a:srgbClr val="D7D0E1"/>
                </a:solidFill>
              </a:defRPr>
            </a:pPr>
            <a:r>
              <a:t>Mastered connecting decoupled React Vite frontends with Express microservices using dynamic environment variables and CORS policies.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💡 Enterprise-Grade Security (RBAC)</a:t>
            </a:r>
          </a:p>
          <a:p>
            <a:pPr>
              <a:spcAft>
                <a:spcPts val="600"/>
              </a:spcAft>
              <a:defRPr sz="950">
                <a:solidFill>
                  <a:srgbClr val="D7D0E1"/>
                </a:solidFill>
              </a:defRPr>
            </a:pPr>
            <a:r>
              <a:t>Implemented stateless JSON Web Tokens, bcrypt password hashing, and server-side authorization guards preventing identity spoofing.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💡 Data Persistence &amp; Graceful Degradation</a:t>
            </a:r>
          </a:p>
          <a:p>
            <a:pPr>
              <a:spcAft>
                <a:spcPts val="600"/>
              </a:spcAft>
              <a:defRPr sz="950">
                <a:solidFill>
                  <a:srgbClr val="D7D0E1"/>
                </a:solidFill>
              </a:defRPr>
            </a:pPr>
            <a:r>
              <a:t>Engineered resilient multi-tier data persistence that seamlessly balances live MongoDB Atlas connections with in-memory stores.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💡 Production Cloud DevOps</a:t>
            </a:r>
          </a:p>
          <a:p>
            <a:pPr>
              <a:spcAft>
                <a:spcPts val="600"/>
              </a:spcAft>
              <a:defRPr sz="950">
                <a:solidFill>
                  <a:srgbClr val="D7D0E1"/>
                </a:solidFill>
              </a:defRPr>
            </a:pPr>
            <a:r>
              <a:t>Acquired hands-on mastery of production CI/CD pipelines, edge rewrites, zero-downtime cloud deployments, and automated testing.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💡 Agile Teamwork &amp; Collaboration</a:t>
            </a:r>
          </a:p>
          <a:p>
            <a:pPr>
              <a:spcAft>
                <a:spcPts val="600"/>
              </a:spcAft>
              <a:defRPr sz="950">
                <a:solidFill>
                  <a:srgbClr val="D7D0E1"/>
                </a:solidFill>
              </a:defRPr>
            </a:pPr>
            <a:r>
              <a:t>Coordinated 4-member pair programming, Git monorepo branching, and clear interface contracts across Frontend and Backend teams.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