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188720" cy="118872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2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29524"/>
                </a:solidFill>
                <a:latin typeface="Arial"/>
              </a:defRPr>
            </a:pPr>
            <a:r>
              <a:t>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45720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3600" b="1">
                <a:solidFill>
                  <a:srgbClr val="12261E"/>
                </a:solidFill>
                <a:latin typeface="Arial"/>
              </a:defRPr>
            </a:pPr>
            <a:r>
              <a:t>StockLink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Hyper-local B2B wholesale marketplace &amp; real-time mandi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TEAM</a:t>
            </a:r>
          </a:p>
          <a:p>
            <a:pPr>
              <a:defRPr sz="1400" b="1">
                <a:solidFill>
                  <a:srgbClr val="12261E"/>
                </a:solidFill>
                <a:latin typeface="Arial"/>
              </a:defRPr>
            </a:pPr>
            <a:r>
              <a:t>Praween Singh Rawat   ·   Anvitha S   ·   Ashraj Singh Rana   ·   Tanishq Mittal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Front End Frameworks and Technologies  ·  MCA (General), Semester I</a:t>
            </a:r>
          </a:p>
          <a:p>
            <a:pPr>
              <a:defRPr sz="1200" b="1">
                <a:solidFill>
                  <a:srgbClr val="12261E"/>
                </a:solidFill>
                <a:latin typeface="Arial"/>
              </a:defRPr>
            </a:pPr>
            <a:r>
              <a:t>Alliance University, Bengaluru  ·  Faculty: Veera Raghav 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2261E"/>
                </a:solidFill>
                <a:latin typeface="Arial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200">
                <a:solidFill>
                  <a:srgbClr val="12261E"/>
                </a:solidFill>
                <a:latin typeface="Arial"/>
              </a:defRPr>
            </a:pPr>
            <a:r>
              <a:t>1   What StockLink does, with a live demo</a:t>
            </a:r>
          </a:p>
          <a:p>
            <a:pPr>
              <a:spcAft>
                <a:spcPts val="400"/>
              </a:spcAft>
              <a:defRPr sz="1200">
                <a:solidFill>
                  <a:srgbClr val="12261E"/>
                </a:solidFill>
                <a:latin typeface="Arial"/>
              </a:defRPr>
            </a:pPr>
            <a:r>
              <a:t>2   Technologies and team responsibilities</a:t>
            </a:r>
          </a:p>
          <a:p>
            <a:pPr>
              <a:spcAft>
                <a:spcPts val="400"/>
              </a:spcAft>
              <a:defRPr sz="1200">
                <a:solidFill>
                  <a:srgbClr val="12261E"/>
                </a:solidFill>
                <a:latin typeface="Arial"/>
              </a:defRPr>
            </a:pPr>
            <a:r>
              <a:t>3   Advantages, disadvantages and future scope</a:t>
            </a:r>
          </a:p>
          <a:p>
            <a:pPr>
              <a:spcAft>
                <a:spcPts val="400"/>
              </a:spcAft>
              <a:defRPr sz="1200">
                <a:solidFill>
                  <a:srgbClr val="12261E"/>
                </a:solidFill>
                <a:latin typeface="Arial"/>
              </a:defRPr>
            </a:pPr>
            <a:r>
              <a:t>4   Hosting link and our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61E"/>
                </a:solidFill>
                <a:latin typeface="Arial"/>
              </a:defRPr>
            </a:pPr>
            <a:r>
              <a:t>What StockLink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1200">
                <a:solidFill>
                  <a:srgbClr val="12261E"/>
                </a:solidFill>
                <a:latin typeface="Arial"/>
              </a:defRPr>
            </a:pPr>
            <a:r>
              <a:t>Traditional mandi wholesale procurement relies on fragmented phone calls, physical visits, and opaque broker pricing.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Kirana retailers overpay 12–18% in commission markups and face frequent stockouts due to phantom/ghost inventory.</a:t>
            </a:r>
          </a:p>
          <a:p>
            <a:pPr>
              <a:spcAft>
                <a:spcPts val="6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HOW IT WORKS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1  Wholesalers list verified stock with live unit counts and editable base prices.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2  Retailers discover local mills by distance and lock rates below APMC mandi benchmarks.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3  Direct procurement orders are placed with verified GSTIN credentials and tracked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188720"/>
            <a:ext cx="6309360" cy="4572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5943600" cy="77724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⚡  12.8% Below APMC Mandi Rate — Basmati Rice ₹85/kg</a:t>
            </a:r>
          </a:p>
          <a:p>
            <a:pPr>
              <a:defRPr sz="950">
                <a:solidFill>
                  <a:srgbClr val="FED7AA"/>
                </a:solidFill>
                <a:latin typeface="Arial"/>
              </a:defRPr>
            </a:pPr>
            <a:r>
              <a:t>Official Mandi Benchmark: ₹95/kg · Direct Mill Rate: ₹85/kg (Save ₹10/kg)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28600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LIVE MARKETPLACE DEMONSTRATION</a:t>
            </a:r>
          </a:p>
          <a:p>
            <a:pPr>
              <a:spcAft>
                <a:spcPts val="400"/>
              </a:spcAft>
              <a:defRPr sz="1000">
                <a:solidFill>
                  <a:srgbClr val="12261E"/>
                </a:solidFill>
                <a:latin typeface="Arial"/>
              </a:defRPr>
            </a:pPr>
            <a:r>
              <a:t>✔ Retailer Mandi Discovery: Active suppliers count (12 verified mills) within 5km radius with real-time stock units.</a:t>
            </a:r>
          </a:p>
          <a:p>
            <a:pPr>
              <a:spcAft>
                <a:spcPts val="400"/>
              </a:spcAft>
              <a:defRPr sz="1000">
                <a:solidFill>
                  <a:srgbClr val="12261E"/>
                </a:solidFill>
                <a:latin typeface="Arial"/>
              </a:defRPr>
            </a:pPr>
            <a:r>
              <a:t>✔ Direct Procurement Cart: Source Cart locks quantities with bulk discount thresholds and automated GST tax calculations.</a:t>
            </a:r>
          </a:p>
          <a:p>
            <a:pPr>
              <a:spcAft>
                <a:spcPts val="400"/>
              </a:spcAft>
              <a:defRPr sz="1000">
                <a:solidFill>
                  <a:srgbClr val="12261E"/>
                </a:solidFill>
                <a:latin typeface="Arial"/>
              </a:defRPr>
            </a:pPr>
            <a:r>
              <a:t>✔ Wholesaler Inline Pricing: Live SKU base price edits update instantly across connected buyer screens without reload.</a:t>
            </a:r>
          </a:p>
          <a:p>
            <a:pPr>
              <a:spcAft>
                <a:spcPts val="400"/>
              </a:spcAft>
              <a:defRPr sz="1000">
                <a:solidFill>
                  <a:srgbClr val="12261E"/>
                </a:solidFill>
                <a:latin typeface="Arial"/>
              </a:defRPr>
            </a:pPr>
            <a:r>
              <a:t>✔ Fulfilment Queue: Active tracking: Order #SL-7401 dispatched with verified GSTIN trader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89788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A live session on the hosted app  ·  Live demo · fft-capstone-project.vercel.app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61E"/>
                </a:solidFill>
                <a:latin typeface="Arial"/>
              </a:defRPr>
            </a:pPr>
            <a:r>
              <a:t>Technologies used &amp; team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  <a:defRPr sz="1200" b="1">
                <a:solidFill>
                  <a:srgbClr val="12261E"/>
                </a:solidFill>
                <a:latin typeface="Arial"/>
              </a:defRPr>
            </a:pPr>
            <a:r>
              <a:t>Front end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React 18 · Vite 6 · React Router · Tailwind CSS · Lucide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371600"/>
            <a:ext cx="2542032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  <a:defRPr sz="1200" b="1">
                <a:solidFill>
                  <a:srgbClr val="12261E"/>
                </a:solidFill>
                <a:latin typeface="Arial"/>
              </a:defRPr>
            </a:pPr>
            <a:r>
              <a:t>Real-time backend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Node.js · Express.js · REST APIs · JWT Auth Middleware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371600"/>
            <a:ext cx="2542032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  <a:defRPr sz="1200" b="1">
                <a:solidFill>
                  <a:srgbClr val="12261E"/>
                </a:solidFill>
                <a:latin typeface="Arial"/>
              </a:defRPr>
            </a:pPr>
            <a:r>
              <a:t>Database &amp; Storage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MongoDB Atlas · Mongoose ORM · Resilient In-Memory Dual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78824" y="1371600"/>
            <a:ext cx="2542032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  <a:defRPr sz="1200" b="1">
                <a:solidFill>
                  <a:srgbClr val="12261E"/>
                </a:solidFill>
                <a:latin typeface="Arial"/>
              </a:defRPr>
            </a:pPr>
            <a:r>
              <a:t>Testing and hosting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Vercel (Edge CDN) · Render (Cloud Web Service) · Automated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TEAM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25420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50" b="1">
                <a:solidFill>
                  <a:srgbClr val="12261E"/>
                </a:solidFill>
                <a:latin typeface="Arial"/>
              </a:defRPr>
            </a:pPr>
            <a:r>
              <a:t>[PR]  Praween Singh Rawat</a:t>
            </a:r>
          </a:p>
          <a:p>
            <a:pPr>
              <a:spcAft>
                <a:spcPts val="600"/>
              </a:spcAft>
              <a:defRPr sz="850" b="1">
                <a:solidFill>
                  <a:srgbClr val="E29524"/>
                </a:solidFill>
                <a:latin typeface="Arial"/>
              </a:defRPr>
            </a:pPr>
            <a:r>
              <a:t>FRONTEND MAIN LEAD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UI/UX architecture &amp; design tokens; interactive Retailer &amp; Wholesaler Dashboards; comprehensive profile management engines; responsive layouts.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3383280"/>
            <a:ext cx="25420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50" b="1">
                <a:solidFill>
                  <a:srgbClr val="12261E"/>
                </a:solidFill>
                <a:latin typeface="Arial"/>
              </a:defRPr>
            </a:pPr>
            <a:r>
              <a:t>[AS]  Anvitha S</a:t>
            </a:r>
          </a:p>
          <a:p>
            <a:pPr>
              <a:spcAft>
                <a:spcPts val="600"/>
              </a:spcAft>
              <a:defRPr sz="850" b="1">
                <a:solidFill>
                  <a:srgbClr val="E29524"/>
                </a:solidFill>
                <a:latin typeface="Arial"/>
              </a:defRPr>
            </a:pPr>
            <a:r>
              <a:t>FRONTEND DEVELOPER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Multi-role authentication workflows; 3-stage onboarding wizard (GSTIN, Address, Preferences); centralized API service (`api.js`); Source Cart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383280"/>
            <a:ext cx="25420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50" b="1">
                <a:solidFill>
                  <a:srgbClr val="12261E"/>
                </a:solidFill>
                <a:latin typeface="Arial"/>
              </a:defRPr>
            </a:pPr>
            <a:r>
              <a:t>[AR]  Ashraj Singh Rana</a:t>
            </a:r>
          </a:p>
          <a:p>
            <a:pPr>
              <a:spcAft>
                <a:spcPts val="600"/>
              </a:spcAft>
              <a:defRPr sz="850" b="1">
                <a:solidFill>
                  <a:srgbClr val="E29524"/>
                </a:solidFill>
                <a:latin typeface="Arial"/>
              </a:defRPr>
            </a:pPr>
            <a:r>
              <a:t>BACKEND MAIN LEAD &amp; DEVOPS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Express REST API architecture; real-time dashboard aggregation engines (spend, revenue, APMC benchmark %); cloud deployment on Render &amp; Vercel.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3383280"/>
            <a:ext cx="25420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50" b="1">
                <a:solidFill>
                  <a:srgbClr val="12261E"/>
                </a:solidFill>
                <a:latin typeface="Arial"/>
              </a:defRPr>
            </a:pPr>
            <a:r>
              <a:t>[TM]  Tanishq Mittal</a:t>
            </a:r>
          </a:p>
          <a:p>
            <a:pPr>
              <a:spcAft>
                <a:spcPts val="600"/>
              </a:spcAft>
              <a:defRPr sz="850" b="1">
                <a:solidFill>
                  <a:srgbClr val="E29524"/>
                </a:solidFill>
                <a:latin typeface="Arial"/>
              </a:defRPr>
            </a:pPr>
            <a:r>
              <a:t>BACKEND &amp; DATABASE DEVELOPER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Database connection &amp; Mongoose schemas (User, Product, Order); role-based JWT security middleware; resilient in-memory dual fallback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61E"/>
                </a:solidFill>
                <a:latin typeface="Arial"/>
              </a:defRPr>
            </a:pPr>
            <a:r>
              <a:t>Advantages, disadvantages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28416" cy="4937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261E"/>
                </a:solidFill>
                <a:latin typeface="Arial"/>
              </a:defRPr>
            </a:pPr>
            <a:r>
              <a:t>Advantages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Direct disintermediation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Direct mill-to-retailer linkage eliminates 12–18% middleman commission markups.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Zero ghost inventory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Real-time stock reservation prevents cancelled orders and stockouts.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Live APMC price discovery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Empowers local shopkeepers with live mandi benchmark pricing.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Resilient dual engine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In-memory fallback guarantees 100% platform uptime during database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328416" cy="4937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261E"/>
                </a:solidFill>
                <a:latin typeface="Arial"/>
              </a:defRPr>
            </a:pPr>
            <a:r>
              <a:t>Disadvantages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Every trader needs connectivity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Live inventory counts and rate updates require continuous internet access.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Local geofence boundaries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Logistics radius is currently tailored for localized mandi hubs (&lt;15–20 km).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Self-managed logistics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Delivery relies on existing local transporter fleets without automated route tracking.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Single currency ecosystem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Transactions are optimized exclusively for Indian Rupees (INR) and GSTIN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328416" cy="4937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2261E"/>
                </a:solidFill>
                <a:latin typeface="Arial"/>
              </a:defRPr>
            </a:pPr>
            <a:r>
              <a:t>Future enhancements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AI predictive procurement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ML forecasting of mandi price trends and automated Kirana stock replenishment.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Automated e-Way bills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Instant GST e-Way bill and tax invoice generation upon order dispatch.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Integrated escrow gateway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Milestone-based digital payment holding until delivery confirmation by retailer.</a:t>
            </a:r>
          </a:p>
          <a:p>
            <a:pPr>
              <a:defRPr sz="1150" b="1">
                <a:solidFill>
                  <a:srgbClr val="12261E"/>
                </a:solidFill>
                <a:latin typeface="Arial"/>
              </a:defRPr>
            </a:pPr>
            <a:r>
              <a:t>• Vernacular voice search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Multilingual voice search (Hindi, Kannada, Telugu, Marathi) for local mandi traders.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61E"/>
                </a:solidFill>
                <a:latin typeface="Arial"/>
              </a:defRPr>
            </a:pPr>
            <a:r>
              <a:t>Hosting link &amp; our learning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114800" cy="4937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LIVE AT</a:t>
            </a:r>
          </a:p>
          <a:p>
            <a:pPr>
              <a:spcAft>
                <a:spcPts val="800"/>
              </a:spcAft>
              <a:defRPr sz="1400" b="1">
                <a:solidFill>
                  <a:srgbClr val="12261E"/>
                </a:solidFill>
                <a:latin typeface="Arial"/>
              </a:defRPr>
            </a:pPr>
            <a:r>
              <a:t>fft-capstone-project.vercel.app</a:t>
            </a:r>
          </a:p>
        </p:txBody>
      </p:sp>
      <p:pic>
        <p:nvPicPr>
          <p:cNvPr id="6" name="Picture 5" descr="stocklink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48840"/>
            <a:ext cx="24688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7091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61E"/>
                </a:solidFill>
                <a:latin typeface="Arial"/>
              </a:defRPr>
            </a:pPr>
            <a:r>
              <a:t>Scan to try it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Join as a retailer or sign in as a wholesaler with pre-configured demo credentials.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Runs on Vercel Edge Network (frontend) and Render Cloud Web Service (Node.js backend).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1887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WHAT WE LEARNED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1   Thinking in components: A real React 18 application with hooks, client routing and reactive cart state.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2   Full-stack API orchestration: Live sync with Express REST APIs, centralized controllers and CORS rules.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3   Role-based security &amp; RBAC: Stateless JWT authorization, password hashing with bcryptjs, and route protection.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4   Resilient data persistence: Designing multi-tier storage with MongoDB Mongoose schemas and an automatic in-memory fallback.</a:t>
            </a:r>
          </a:p>
          <a:p>
            <a:pPr>
              <a:spcAft>
                <a:spcPts val="800"/>
              </a:spcAft>
              <a:defRPr sz="1150">
                <a:solidFill>
                  <a:srgbClr val="12261E"/>
                </a:solidFill>
                <a:latin typeface="Arial"/>
              </a:defRPr>
            </a:pPr>
            <a:r>
              <a:t>5   Shipping production software: Configuring edge CDN routing, SPA rewrites, automated test suites and zero-downtime cloud hosting.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589788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261E"/>
                </a:solidFill>
                <a:latin typeface="Arial"/>
              </a:defRPr>
            </a:pPr>
            <a:r>
              <a:t>Thank you   ·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